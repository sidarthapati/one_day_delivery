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One line: 'This is where the product is today. Rather than talk slides, I'll walk you through a real parcel we actually sent Hyderabad to Delhi last week — every step you see is a real system running in production, and I have the recording.'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market gap simply. The strategic choice is vertical integration of the ground legs — that's what buys us control and the tracking experience competitors can't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customer promise. Emphasize 'time-definite' and 'traceable' — those are the two words that differentiate us. The SLA clock with human escalation is a real, built system (M10), not 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pivot. Everything after this is the real journey. Set expectation: 'I'll show you each step and play a short clip of it actually happening.'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mental model for the whole talk. Walk left to right once. Call out that the airline is just one arc in the middle — we own everything on the ground on both sides. Point out the two shuttle nodes: same feature, both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 1 — Booking: parcel and DA plan for the day.</a:t>
            </a:r>
          </a:p>
          <a:p/>
          <a:p>
            <a:r>
              <a:t>What to say: the customer/business portal takes the booking; behind it, pricing (M2), serviceability grid (M3) and the driver day-plan all run automatically. The parcel gets its lifelong ID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2–3 — pickup queue + travel; then arrival, OTP exchange and collection.</a:t>
            </a:r>
          </a:p>
          <a:p/>
          <a:p>
            <a:r>
              <a:t>What to say: assignment is instant but constrained — the driver must be able to reach the hub before the flight cutoff, or we don't assign. The OTP proves the right parcel from the right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4–5 — pickup completed + travel to hub; then handoff to hub.</a:t>
            </a:r>
          </a:p>
          <a:p/>
          <a:p>
            <a:r>
              <a:t>Keep this brief — it's the connective tissue. The point: every handoff is a scan, so we always know who holds the parcel.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6–7 — hub scan-in + flight-bag assignment; then seal, manifest and dispatch.</a:t>
            </a:r>
          </a:p>
          <a:p/>
          <a:p>
            <a:r>
              <a:t>What to say: this is the sortation brain (M7) plus the immutable scan ledger (M8). Then CALL OUT the origin shuttle: the same shuttle system that you'll see at the Delhi end also drives the bag to the airport in Hyderabad — it's live in the product, we just didn't film that leg. No clip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8–9 — GHA console: attach AWB to bag; then confirm handover, acceptance, loaded.</a:t>
            </a:r>
          </a:p>
          <a:p/>
          <a:p>
            <a:r>
              <a:t>What to say: this is the airline module (M9). We book and track the flight ourselves; the AWB ties our parcels to the airline's reservation. Two separate confirmations = no parcel 'assumed' onto a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 11 — Flight: shipment in transit in air.</a:t>
            </a:r>
          </a:p>
          <a:p/>
          <a:p>
            <a:r>
              <a:t>Short. The system tracks the flight itself and flips the parcel to LANDED automatically. Segue: 'and while all this happens, here's what the customer sees…'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 10 — Business Portal: live tracking updates + tracking logs.</a:t>
            </a:r>
          </a:p>
          <a:p/>
          <a:p>
            <a:r>
              <a:t>What to say: this is the differentiator. Real-time flight-level tracking is rare in Indian intercity delivery. Note the tracking LOG — every state change is timestamped and visible, which builds trust with B2B shippers.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12–14 — shuttle queue + description; collection from airport; enroute tracking.</a:t>
            </a:r>
          </a:p>
          <a:p/>
          <a:p>
            <a:r>
              <a:t>What to say: this is the other end of the same shuttle feature. A real person owns this leg now, and it's a live dot on the map. Mention the queue is smart — it surfaces anything landed and uncollected.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 15 — Dest hub: receive scan + bag seal.</a:t>
            </a:r>
          </a:p>
          <a:p/>
          <a:p>
            <a:r>
              <a:t>What to say: the hub works both directions — inbound sortation for delivery, just like outbound for flights. Delivery assignment is automatic to whoever's online. Delhi is in 'hub-return'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CLIPS 15.5, 16, 17, 19, 20 — travel to drop; exchange scan; OTP; delivered; success.</a:t>
            </a:r>
          </a:p>
          <a:p/>
          <a:p>
            <a:r>
              <a:t>What to say: close the loop. Recipient OTP mirrors the pickup OTP — chain of custody proven at both ends. End on: 'that's a real parcel, delivered, on the systems we built.'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out: the journey wasn't a demo script — each step is a real module. This is the breadth of what's built. Don't read every box; let them scan it. Emphasize breadth + that it's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technical folks in the room. Keep it to these four ideas. The killer line is 'queryable by parcel ID' — it's how we debug and how ops answers any question. Stack: Java/Spring, Postgres, RabbitMQ message bus (say 'message bus' to non-tech). Deployed on Render +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'so what' for leadership. This is the moat: vertical integration + visibility. Each of these maps to systems you just saw working on a real parcel.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plane. Left = what's real (be confident). Right = clearly framed as vision/next, so no one confuses roadmap with shipped. Closing line: the hard part — the logistics engine — is done and proven; the next phase is growth on top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137160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Godspeed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0" i="0">
                <a:solidFill>
                  <a:srgbClr val="D1D5DB"/>
                </a:solidFill>
                <a:latin typeface="Arial"/>
              </a:rPr>
              <a:t>One-day intercity parcel delivery — built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CA3AF"/>
                </a:solidFill>
                <a:latin typeface="Arial"/>
              </a:rPr>
              <a:t>We built the full logistics chain — and flew a real parcel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Hyderabad → Delhi</a:t>
            </a:r>
            <a:r>
              <a:rPr sz="1800" b="0" i="0">
                <a:solidFill>
                  <a:srgbClr val="9CA3AF"/>
                </a:solidFill>
                <a:latin typeface="Arial"/>
              </a:rPr>
              <a:t>, end to end, on live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Product &amp; engineering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0B0C"/>
                </a:solidFill>
                <a:latin typeface="Arial"/>
              </a:rPr>
              <a:t>Intercity parcel delivery in India is </a:t>
            </a:r>
            <a:r>
              <a:rPr sz="3400" b="1" i="0">
                <a:solidFill>
                  <a:srgbClr val="6B7280"/>
                </a:solidFill>
                <a:latin typeface="Arial"/>
              </a:rPr>
              <a:t>slow and opaque.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0B0C"/>
                </a:solidFill>
                <a:latin typeface="Arial"/>
              </a:rPr>
              <a:t>Our bet: </a:t>
            </a:r>
            <a:r>
              <a:rPr sz="2000" b="1" i="0">
                <a:solidFill>
                  <a:srgbClr val="0891B2"/>
                </a:solidFill>
                <a:latin typeface="Arial"/>
              </a:rPr>
              <a:t>own every ground leg ourselves</a:t>
            </a:r>
            <a:r>
              <a:rPr sz="2000" b="0" i="0">
                <a:solidFill>
                  <a:srgbClr val="0B0B0C"/>
                </a:solidFill>
                <a:latin typeface="Arial"/>
              </a:rPr>
              <a:t>  — and use the airline only as line-haul, never as a parcel carrier.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03320"/>
            <a:ext cx="3392424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82296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950208"/>
            <a:ext cx="28437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Own the ground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Pickup → hub → hub-airport shuttle → hub → last mile. No third-party carriers in the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3703320"/>
            <a:ext cx="3392424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8264" y="3703320"/>
            <a:ext cx="82296" cy="228600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3950208"/>
            <a:ext cx="28437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Airline = a lever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The flight is a contracted line-haul partner we book and track — not a black box we hand parcels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3703320"/>
            <a:ext cx="3392424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73568" y="3703320"/>
            <a:ext cx="82296" cy="2286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50208"/>
            <a:ext cx="28437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Total visibility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Every touch is scanned; the customer sees the parcel move the whole way, including the flight.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B0B0C"/>
                </a:solidFill>
                <a:latin typeface="Arial"/>
              </a:rPr>
              <a:t>One-day, time-definite, fully traceable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392424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926080"/>
            <a:ext cx="27523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0B0B0C"/>
                </a:solidFill>
                <a:latin typeface="Arial"/>
              </a:rPr>
              <a:t>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cities live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Delhi · Mumbai · Bangalore · Hyderabad · Chennai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651760"/>
            <a:ext cx="3392424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8304" y="2926080"/>
            <a:ext cx="27523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0B0B0C"/>
                </a:solidFill>
                <a:latin typeface="Arial"/>
              </a:rPr>
              <a:t>Every leg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on an SLA clock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Green → amber → red; a red leg forces a human to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651760"/>
            <a:ext cx="3392424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2926080"/>
            <a:ext cx="275234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0B0B0C"/>
                </a:solidFill>
                <a:latin typeface="Arial"/>
              </a:rPr>
              <a:t>End-to-end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0B0B0C"/>
                </a:solidFill>
                <a:latin typeface="Arial"/>
              </a:rPr>
              <a:t>tracking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Barcode → air waybill → live flight → rider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Arial"/>
              </a:rPr>
              <a:t>B2B, B2C and C2C on one engine — priced by customer type × city-pair × volumetric weight.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CA3AF"/>
                </a:solidFill>
                <a:latin typeface="Arial"/>
              </a:rP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This isn't a prototype.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1D5DB"/>
                </a:solidFill>
                <a:latin typeface="Arial"/>
              </a:rPr>
              <a:t>One real parcel — </a:t>
            </a:r>
            <a:r>
              <a:rPr sz="2200" b="1" i="0">
                <a:solidFill>
                  <a:srgbClr val="16A34A"/>
                </a:solidFill>
                <a:latin typeface="Arial"/>
              </a:rPr>
              <a:t>1DD-HYD-20260812-00001</a:t>
            </a:r>
            <a:r>
              <a:rPr sz="2200" b="0" i="0">
                <a:solidFill>
                  <a:srgbClr val="D1D5DB"/>
                </a:solidFill>
                <a:latin typeface="Arial"/>
              </a:rPr>
              <a:t>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1D5DB"/>
                </a:solidFill>
                <a:latin typeface="Arial"/>
              </a:rPr>
              <a:t>travelled Hyderabad → Delhi through every system we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A3AF"/>
                </a:solidFill>
                <a:latin typeface="Arial"/>
              </a:rPr>
              <a:t>900 g · prepaid · flight 6E6025 · booked, picked up, flown, and delivered on live infrastructure.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The rest of this deck is that parcel's journey — with the recording at each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HOW A PARCEL TRAVELS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C"/>
                </a:solidFill>
                <a:latin typeface="Arial"/>
              </a:rPr>
              <a:t>Ten steps, six teams, one unbroken chain of custody.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00400"/>
            <a:ext cx="10543032" cy="25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3048508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2331720"/>
            <a:ext cx="15544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Customer</a:t>
            </a:r>
          </a:p>
        </p:txBody>
      </p:sp>
      <p:sp>
        <p:nvSpPr>
          <p:cNvPr id="7" name="Oval 6"/>
          <p:cNvSpPr/>
          <p:nvPr/>
        </p:nvSpPr>
        <p:spPr>
          <a:xfrm>
            <a:off x="1829816" y="3048508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7168" y="361188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C3AED"/>
                </a:solidFill>
                <a:latin typeface="Arial"/>
              </a:rPr>
              <a:t>Pickup DA</a:t>
            </a:r>
          </a:p>
        </p:txBody>
      </p:sp>
      <p:sp>
        <p:nvSpPr>
          <p:cNvPr id="9" name="Oval 8"/>
          <p:cNvSpPr/>
          <p:nvPr/>
        </p:nvSpPr>
        <p:spPr>
          <a:xfrm>
            <a:off x="3001264" y="3048508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8616" y="2331720"/>
            <a:ext cx="15544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891B2"/>
                </a:solidFill>
                <a:latin typeface="Arial"/>
              </a:rPr>
              <a:t>Origin hub</a:t>
            </a:r>
          </a:p>
        </p:txBody>
      </p:sp>
      <p:sp>
        <p:nvSpPr>
          <p:cNvPr id="11" name="Oval 10"/>
          <p:cNvSpPr/>
          <p:nvPr/>
        </p:nvSpPr>
        <p:spPr>
          <a:xfrm>
            <a:off x="4172712" y="3048508"/>
            <a:ext cx="329184" cy="32918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0064" y="361188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Origin shuttle</a:t>
            </a:r>
          </a:p>
        </p:txBody>
      </p:sp>
      <p:sp>
        <p:nvSpPr>
          <p:cNvPr id="13" name="Oval 12"/>
          <p:cNvSpPr/>
          <p:nvPr/>
        </p:nvSpPr>
        <p:spPr>
          <a:xfrm>
            <a:off x="5344160" y="3048508"/>
            <a:ext cx="329184" cy="32918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1512" y="2331720"/>
            <a:ext cx="15544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B5563"/>
                </a:solidFill>
                <a:latin typeface="Arial"/>
              </a:rPr>
              <a:t>Airport / GHA</a:t>
            </a:r>
          </a:p>
        </p:txBody>
      </p:sp>
      <p:sp>
        <p:nvSpPr>
          <p:cNvPr id="15" name="Oval 14"/>
          <p:cNvSpPr/>
          <p:nvPr/>
        </p:nvSpPr>
        <p:spPr>
          <a:xfrm>
            <a:off x="6515608" y="3048508"/>
            <a:ext cx="329184" cy="32918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2960" y="361188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B5563"/>
                </a:solidFill>
                <a:latin typeface="Arial"/>
              </a:rPr>
              <a:t>Flight</a:t>
            </a:r>
          </a:p>
        </p:txBody>
      </p:sp>
      <p:sp>
        <p:nvSpPr>
          <p:cNvPr id="17" name="Oval 16"/>
          <p:cNvSpPr/>
          <p:nvPr/>
        </p:nvSpPr>
        <p:spPr>
          <a:xfrm>
            <a:off x="7687056" y="3048508"/>
            <a:ext cx="329184" cy="32918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4408" y="2331720"/>
            <a:ext cx="15544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Dest shuttle</a:t>
            </a:r>
          </a:p>
        </p:txBody>
      </p:sp>
      <p:sp>
        <p:nvSpPr>
          <p:cNvPr id="19" name="Oval 18"/>
          <p:cNvSpPr/>
          <p:nvPr/>
        </p:nvSpPr>
        <p:spPr>
          <a:xfrm>
            <a:off x="8858504" y="3048508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5856" y="361188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891B2"/>
                </a:solidFill>
                <a:latin typeface="Arial"/>
              </a:rPr>
              <a:t>Dest hub</a:t>
            </a:r>
          </a:p>
        </p:txBody>
      </p:sp>
      <p:sp>
        <p:nvSpPr>
          <p:cNvPr id="21" name="Oval 20"/>
          <p:cNvSpPr/>
          <p:nvPr/>
        </p:nvSpPr>
        <p:spPr>
          <a:xfrm>
            <a:off x="10029952" y="3048508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7304" y="2331720"/>
            <a:ext cx="155448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Delivery DA</a:t>
            </a:r>
          </a:p>
        </p:txBody>
      </p:sp>
      <p:sp>
        <p:nvSpPr>
          <p:cNvPr id="23" name="Oval 22"/>
          <p:cNvSpPr/>
          <p:nvPr/>
        </p:nvSpPr>
        <p:spPr>
          <a:xfrm>
            <a:off x="11201400" y="3048508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88752" y="361188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Arial"/>
              </a:rPr>
              <a:t>Delivered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92040"/>
            <a:ext cx="10543032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B0B0C"/>
                </a:solidFill>
                <a:latin typeface="Arial"/>
              </a:rPr>
              <a:t>Notice the </a:t>
            </a:r>
            <a:r>
              <a:rPr sz="1400" b="1" i="0">
                <a:solidFill>
                  <a:srgbClr val="EA580C"/>
                </a:solidFill>
                <a:latin typeface="Arial"/>
              </a:rPr>
              <a:t>shuttle appears on both ends</a:t>
            </a:r>
            <a:r>
              <a:rPr sz="1400" b="0" i="0">
                <a:solidFill>
                  <a:srgbClr val="0B0B0C"/>
                </a:solidFill>
                <a:latin typeface="Arial"/>
              </a:rPr>
              <a:t> — a real person drives the flight bag hub ⇄ airport at origin </a:t>
            </a:r>
            <a:r>
              <a:rPr sz="1400" b="1" i="0">
                <a:solidFill>
                  <a:srgbClr val="0B0B0C"/>
                </a:solidFill>
                <a:latin typeface="Arial"/>
              </a:rPr>
              <a:t>and</a:t>
            </a:r>
            <a:r>
              <a:rPr sz="1400" b="0" i="0">
                <a:solidFill>
                  <a:srgbClr val="0B0B0C"/>
                </a:solidFill>
                <a:latin typeface="Arial"/>
              </a:rPr>
              <a:t> destination, live-tracked. Same system, first mile and last.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1 ·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The parcel enters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 / business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→ BOOKED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Sender books a HYD → DEL parcel; price is computed instantly from weight, size and city-pair.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platform plans the day — which drivers cover which areas — before the first pickup.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A lifelong parcel ID + barcode is issued; every later scan attaches to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 1 — Booking: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parcel + day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6092" y="6163437"/>
            <a:ext cx="173736" cy="1737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2563EB"/>
                </a:solidFill>
                <a:latin typeface="Arial"/>
              </a:rPr>
              <a:t>Customer</a:t>
            </a:r>
          </a:p>
        </p:txBody>
      </p:sp>
      <p:sp>
        <p:nvSpPr>
          <p:cNvPr id="14" name="Oval 13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2 · PICKUP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A driver collects it — with an OTP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Pickup 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Driver app · pickup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PICKUP_ASSIGNED → PICKED_UP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nearest available driver is assigned automatically — and only if they can still make the hub in time.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Driver navigates, taps ‘I’ve arrived’, and does an OTP handshake with the sender.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Scan on collection — the custody trail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2–3 — Pickup queue,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travel, arrival, OTP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07540" y="6163437"/>
            <a:ext cx="173736" cy="1737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1448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C3AED"/>
                </a:solidFill>
                <a:latin typeface="Arial"/>
              </a:rPr>
              <a:t>Pickup DA</a:t>
            </a:r>
          </a:p>
        </p:txBody>
      </p:sp>
      <p:sp>
        <p:nvSpPr>
          <p:cNvPr id="15" name="Oval 14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3 · TO THE ORIGIN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Driver brings it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Pickup 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Driver app · pickup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→ RETURNED_TO_HUB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Pickup done, the driver drives the parcel to the Hyderabad hub.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Handoff to the hub is a scan — custody transfers from driver to hub, on the record.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driver is now free for the next pickup in their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4–5 — Pickup done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→ hub, handoff to 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8988" y="6163437"/>
            <a:ext cx="173736" cy="1737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2896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891B2"/>
                </a:solidFill>
                <a:latin typeface="Arial"/>
              </a:rPr>
              <a:t>Origin hub</a:t>
            </a:r>
          </a:p>
        </p:txBody>
      </p:sp>
      <p:sp>
        <p:nvSpPr>
          <p:cNvPr id="16" name="Oval 15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4 · ORIGIN HUB → AIRPORT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Sorted, bagged, and driven to the plane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Hub + origin shuttle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Hub console + driver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AT_ORIGIN_HUB → IN_TAKEOFF_BAG → DISPATCHED_TO_AIRPORT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Hub scans it in and sorts it into the correct flight bag; the flight manifest is generated automatically.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bag is sealed — then a shuttle agent drives it to the airport, live-tracked.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Shuttle runs on BOTH ends of the trip — origin and destination — same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6–7 — Scan-in, bag,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seal, manifest, dispatch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8988" y="6163437"/>
            <a:ext cx="173736" cy="1737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2896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891B2"/>
                </a:solidFill>
                <a:latin typeface="Arial"/>
              </a:rPr>
              <a:t>Origin hub</a:t>
            </a:r>
          </a:p>
        </p:txBody>
      </p:sp>
      <p:sp>
        <p:nvSpPr>
          <p:cNvPr id="16" name="Oval 15"/>
          <p:cNvSpPr/>
          <p:nvPr/>
        </p:nvSpPr>
        <p:spPr>
          <a:xfrm>
            <a:off x="4250436" y="6163437"/>
            <a:ext cx="173736" cy="1737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344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EA580C"/>
                </a:solidFill>
                <a:latin typeface="Arial"/>
              </a:rPr>
              <a:t>Origin shuttle</a:t>
            </a:r>
          </a:p>
        </p:txBody>
      </p:sp>
      <p:sp>
        <p:nvSpPr>
          <p:cNvPr id="18" name="Oval 17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04688"/>
            <a:ext cx="5577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A580C"/>
                </a:solidFill>
                <a:latin typeface="Arial"/>
              </a:rPr>
              <a:t>Note: </a:t>
            </a:r>
            <a:r>
              <a:rPr sz="1100" b="0" i="1">
                <a:solidFill>
                  <a:srgbClr val="6B7280"/>
                </a:solidFill>
                <a:latin typeface="Arial"/>
              </a:rPr>
              <a:t>the origin shuttle drive is in production — it just wasn’t captured in this recording.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5 · AIRLINE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Onto the flight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Airline / 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Airline / GHA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→ AT_AIRPORT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ground handler attaches the Air Waybill (AWB) to the bag and confirms handover.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‘GHA accepted’ then ‘loaded’ — physical custody is confirmed at each step.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whole batch flies under one reservation — like a tour group on one 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8–9 — Attach AWB,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GHA acceptance &amp; 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21884" y="6163437"/>
            <a:ext cx="173736" cy="17373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5792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B5563"/>
                </a:solidFill>
                <a:latin typeface="Arial"/>
              </a:rPr>
              <a:t>Airport / GHA</a:t>
            </a:r>
          </a:p>
        </p:txBody>
      </p:sp>
      <p:sp>
        <p:nvSpPr>
          <p:cNvPr id="18" name="Oval 17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6 · IN THE 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Hyderabad to Delhi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Airline console · auto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DEPARTED → LANDED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Flight 6E6025 departs Hyderabad and lands in Delhi.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Flight status syncs automatically — the parcel’s state advances without anyone touching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4B5563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customer watches the plane move in real time (next slide).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 11 — In transit,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shipment in the 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93332" y="6163437"/>
            <a:ext cx="173736" cy="173736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7240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B5563"/>
                </a:solidFill>
                <a:latin typeface="Arial"/>
              </a:rPr>
              <a:t>Flight</a:t>
            </a:r>
          </a:p>
        </p:txBody>
      </p:sp>
      <p:sp>
        <p:nvSpPr>
          <p:cNvPr id="19" name="Oval 18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THE CUSTOMER’S VIEW · LIVETRACK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They watch it the whole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 / business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live, throughout every leg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One tracking page shows the parcel move: barcode → AWB → live flight → rider.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This is the piece we built deeply — it kills the ‘where is my order?’ call.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Business customers get the same view, white-labelled, plus a full tracking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 10 — Business portal: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live tracking +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7 · SHUTTLE (DELHI)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Collected from the airport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Dest shuttle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Driver app · shuttle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→ DISPATCHED_TO_HUB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Delhi shuttle agent sees the landed flight in their app and taps ‘Collected from airport’.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They drive the bag to the Delhi hub — shown as a live moving dot on tracking.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A580C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queue is state-based: any landed-but-not-collected flight shows up, no matter the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12–14 — Shuttle queue,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collect, enroute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64780" y="6163437"/>
            <a:ext cx="173736" cy="1737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8688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EA580C"/>
                </a:solidFill>
                <a:latin typeface="Arial"/>
              </a:rPr>
              <a:t>Dest shuttle</a:t>
            </a:r>
          </a:p>
        </p:txBody>
      </p:sp>
      <p:sp>
        <p:nvSpPr>
          <p:cNvPr id="20" name="Oval 19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8 · DESTINATION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Received and sorted for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Hub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AT_DEST_HUB → DEST_HUB_PROCESSING → HUB_DELIVERY_ASSIGNED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Delhi hub scans the bag in at the dock and auto-sorts the parcel for last-mile delivery.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system assigns the delivery to the online Delhi driver — automatically.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891B2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In Delhi we deliver straight from the hub; no extra van leg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 15 — Dest hub receive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scan + bag seal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36228" y="6163437"/>
            <a:ext cx="173736" cy="1737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136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891B2"/>
                </a:solidFill>
                <a:latin typeface="Arial"/>
              </a:rPr>
              <a:t>Dest hub</a:t>
            </a:r>
          </a:p>
        </p:txBody>
      </p:sp>
      <p:sp>
        <p:nvSpPr>
          <p:cNvPr id="21" name="Oval 20"/>
          <p:cNvSpPr/>
          <p:nvPr/>
        </p:nvSpPr>
        <p:spPr>
          <a:xfrm>
            <a:off x="1013968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1112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STEP 9 · LAST MILE &amp;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B0B0C"/>
                </a:solidFill>
                <a:latin typeface="Arial"/>
              </a:rPr>
              <a:t>To the door — with a recipient OTP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Delivery 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7451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Driver app ·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7280"/>
                </a:solidFill>
                <a:latin typeface="Arial"/>
              </a:rPr>
              <a:t>STATE  </a:t>
            </a:r>
            <a:r>
              <a:rPr sz="1250" b="1" i="0">
                <a:solidFill>
                  <a:srgbClr val="0B0B0C"/>
                </a:solidFill>
                <a:latin typeface="Arial"/>
              </a:rPr>
              <a:t>COLLECTED_FROM_HUB → DROPPED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delivery driver collects from the hub, drives to the address, taps ‘I’ve arrived’.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Scan at the door, then the recipient OTP — proof of the right hands.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—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Delivered. The full journey is closed and traceable end to 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663440" cy="3383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668512" y="2423160"/>
            <a:ext cx="768096" cy="658368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33756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Arial"/>
              </a:rPr>
              <a:t>▶  DROP / PLAY VIDEO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Clips 15.5–20 — Travel, scan,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0B0C"/>
                </a:solidFill>
                <a:latin typeface="Arial"/>
              </a:rPr>
              <a:t>OTP, delivered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40780"/>
            <a:ext cx="10543032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3954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099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2440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53888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5336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96784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8232" y="6195441"/>
            <a:ext cx="109728" cy="109728"/>
          </a:xfrm>
          <a:prstGeom prst="ellipse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7676" y="6163437"/>
            <a:ext cx="173736" cy="1737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1584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6A34A"/>
                </a:solidFill>
                <a:latin typeface="Arial"/>
              </a:rPr>
              <a:t>Delivery DA</a:t>
            </a:r>
          </a:p>
        </p:txBody>
      </p:sp>
      <p:sp>
        <p:nvSpPr>
          <p:cNvPr id="22" name="Oval 21"/>
          <p:cNvSpPr/>
          <p:nvPr/>
        </p:nvSpPr>
        <p:spPr>
          <a:xfrm>
            <a:off x="11279124" y="6163437"/>
            <a:ext cx="173736" cy="1737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43032" y="6391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6A34A"/>
                </a:solidFill>
                <a:latin typeface="Arial"/>
              </a:rPr>
              <a:t>Delivered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WHAT WE’VE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B0B0C"/>
                </a:solidFill>
                <a:latin typeface="Arial"/>
              </a:rPr>
              <a:t>Every step you just saw is a capability we built and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2029968"/>
            <a:ext cx="146304" cy="1463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1975104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Identity &amp; roles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Who can do what, per 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76472" y="202996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32504" y="1975104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Pricing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Instant quotes by weight, size,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65392" y="2029968"/>
            <a:ext cx="146304" cy="14630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1975104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Grid &amp; serviceability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Every address maps to an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828800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54312" y="202996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0344" y="1975104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Order lifecycle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The parcel’s master state machine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82696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48386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429000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Smart dispatch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Nearest driver who can make the flight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3282696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76472" y="348386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504" y="3429000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Routing &amp; custody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Vans as moving mini-hubs, tracked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82696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65392" y="3483864"/>
            <a:ext cx="146304" cy="14630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3429000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Hub sortation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Bags, manifests, both directions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282696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54312" y="3483864"/>
            <a:ext cx="146304" cy="146304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0344" y="3429000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Barcode &amp; ledger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One ID, an unchangeable scan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36592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4937760"/>
            <a:ext cx="146304" cy="146304"/>
          </a:xfrm>
          <a:prstGeom prst="ellipse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3584" y="4882896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Airline &amp; flight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Book, track &amp; rebook the line-haul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4736592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76472" y="4937760"/>
            <a:ext cx="146304" cy="14630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4882896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Shuttle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Live-tracked hub ⇄ airport, both ends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36592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65392" y="4937760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4882896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SLA monitoring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A clock on every leg +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736592"/>
            <a:ext cx="261518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54312" y="493776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0344" y="4882896"/>
            <a:ext cx="2066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C"/>
                </a:solidFill>
                <a:latin typeface="Arial"/>
              </a:rPr>
              <a:t>LiveTrack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Arial"/>
              </a:rPr>
              <a:t>End-to-end customer visibility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Plus exceptions &amp; returns (RTO), call-centre workflow, and a B2B shipper portal.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UNDER THE HOOD (LIGHTLY)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B0B0C"/>
                </a:solidFill>
                <a:latin typeface="Arial"/>
              </a:rPr>
              <a:t>One platform, event-driven, everything traceable.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75504" cy="1600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82296" cy="1600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66544"/>
            <a:ext cx="45811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0B0C"/>
                </a:solidFill>
                <a:latin typeface="Arial"/>
              </a:rPr>
              <a:t>One platform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A single event-driven system — modules talk over a message bus, so we can split them into services later without rework.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828800"/>
            <a:ext cx="5175504" cy="1600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81344" y="1828800"/>
            <a:ext cx="82296" cy="1600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066544"/>
            <a:ext cx="45811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0B0C"/>
                </a:solidFill>
                <a:latin typeface="Arial"/>
              </a:rPr>
              <a:t>Append-only ledger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Nothing about a parcel can be quietly rewritten. Every scan and state change is permanent and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5175504" cy="1600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82296" cy="1600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49624"/>
            <a:ext cx="45811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0B0C"/>
                </a:solidFill>
                <a:latin typeface="Arial"/>
              </a:rPr>
              <a:t>SLA clock on every leg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Each leg is timed; a slipping leg turns red and escalates to a person who must 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611880"/>
            <a:ext cx="5175504" cy="1600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3611880"/>
            <a:ext cx="82296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849624"/>
            <a:ext cx="45811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0B0C"/>
                </a:solidFill>
                <a:latin typeface="Arial"/>
              </a:rPr>
              <a:t>Queryable by parcel ID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6B728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Arial"/>
              </a:rPr>
              <a:t>Type one ID and see the entire custody trail, in order, across every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B0B0C"/>
                </a:solidFill>
                <a:latin typeface="Arial"/>
              </a:rPr>
              <a:t>Live footprint: </a:t>
            </a:r>
            <a:r>
              <a:rPr sz="1300" b="0" i="0">
                <a:solidFill>
                  <a:srgbClr val="6B7280"/>
                </a:solidFill>
                <a:latin typeface="Arial"/>
              </a:rPr>
              <a:t>backend on Render · consoles + driver app on Vercel · Postgres + message bus in the cloud.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The Hyderabad → Delhi run used exactly this — nothing was mocked.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9CA3AF"/>
                </a:solidFill>
                <a:latin typeface="Arial"/>
              </a:rPr>
              <a:t>WHY THIS IS HARD — AND DEFENSIBLE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most players can’t do: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122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We own &amp; instrument every ground leg.  </a:t>
            </a:r>
            <a:r>
              <a:rPr sz="1600" b="0" i="0">
                <a:solidFill>
                  <a:srgbClr val="B9BFC9"/>
                </a:solidFill>
                <a:latin typeface="Arial"/>
              </a:rPr>
              <a:t>so we control quality and cost, not a patchwork of vendors.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0266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26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The airline is a partner, not a black box.  </a:t>
            </a:r>
            <a:r>
              <a:rPr sz="1600" b="0" i="0">
                <a:solidFill>
                  <a:srgbClr val="B9BFC9"/>
                </a:solidFill>
                <a:latin typeface="Arial"/>
              </a:rPr>
              <a:t>we book, track and rebook flights ourselves.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9410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Live flight-level tracking.  </a:t>
            </a:r>
            <a:r>
              <a:rPr sz="1600" b="0" i="0">
                <a:solidFill>
                  <a:srgbClr val="B9BFC9"/>
                </a:solidFill>
                <a:latin typeface="Arial"/>
              </a:rPr>
              <a:t>the customer sees the plane, not just ‘in transit’.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8554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54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Human-in-the-loop SLA.  </a:t>
            </a:r>
            <a:r>
              <a:rPr sz="1600" b="0" i="0">
                <a:solidFill>
                  <a:srgbClr val="B9BFC9"/>
                </a:solidFill>
                <a:latin typeface="Arial"/>
              </a:rPr>
              <a:t>problems surface and escalate before they become failures.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7280"/>
                </a:solidFill>
                <a:latin typeface="Arial"/>
              </a:rPr>
              <a:t>WHERE WE ARE — AND WHAT’S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5175504" cy="4023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5175504" cy="5486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BUILT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Full logistics chain across 5 cities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Real parcel delivered HYD → DEL, end to end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Live on production infra (Render + Vercel)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Customer, business, hub, airline &amp; driver apps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SLA monitoring + end-to-end LiveTrack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✓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Shuttle live-tracked on both 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175504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280160"/>
            <a:ext cx="5175504" cy="548640"/>
          </a:xfrm>
          <a:prstGeom prst="round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371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NEXT (VISION)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→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The 24-hour Godspeed consumer brand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→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More cities and lanes on the same engine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→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Shopify / WooCommerce merchant plugins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→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Prepaid wallet + merchant dashboard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→  </a:t>
            </a:r>
            <a:r>
              <a:rPr sz="1350" b="0" i="0">
                <a:solidFill>
                  <a:srgbClr val="0B0B0C"/>
                </a:solidFill>
                <a:latin typeface="Arial"/>
              </a:rPr>
              <a:t>Deeper exceptions &amp; returns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0B0C"/>
                </a:solidFill>
                <a:latin typeface="Arial"/>
              </a:rPr>
              <a:t>The engine is real and proven. What’s next is reach and demand — not rebuilding the 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